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74975" y="-32816"/>
            <a:ext cx="6392291" cy="849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315" y="1690877"/>
            <a:ext cx="11321415" cy="3866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8204"/>
            <a:ext cx="12192000" cy="154990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355" y="2532888"/>
            <a:ext cx="9864852" cy="9052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18817" y="2038350"/>
            <a:ext cx="980821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R="74422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Project</a:t>
            </a:r>
            <a:r>
              <a:rPr dirty="0" sz="3600" spc="-150"/>
              <a:t> </a:t>
            </a:r>
            <a:r>
              <a:rPr dirty="0" sz="3600"/>
              <a:t>Review</a:t>
            </a:r>
            <a:r>
              <a:rPr dirty="0" sz="3600" spc="-140"/>
              <a:t> </a:t>
            </a:r>
            <a:r>
              <a:rPr dirty="0" sz="3600"/>
              <a:t>Seminar</a:t>
            </a:r>
            <a:r>
              <a:rPr dirty="0" sz="3600" spc="-204"/>
              <a:t> </a:t>
            </a:r>
            <a:r>
              <a:rPr dirty="0" sz="3600"/>
              <a:t>–</a:t>
            </a:r>
            <a:r>
              <a:rPr dirty="0" sz="3600" spc="-150"/>
              <a:t> </a:t>
            </a:r>
            <a:r>
              <a:rPr dirty="0" sz="3600" spc="-50"/>
              <a:t>I</a:t>
            </a:r>
            <a:endParaRPr sz="3600"/>
          </a:p>
          <a:p>
            <a:pPr algn="ctr">
              <a:lnSpc>
                <a:spcPct val="100000"/>
              </a:lnSpc>
            </a:pPr>
            <a:r>
              <a:rPr dirty="0" sz="3600"/>
              <a:t>“</a:t>
            </a:r>
            <a:r>
              <a:rPr dirty="0" sz="3200">
                <a:solidFill>
                  <a:srgbClr val="FF0000"/>
                </a:solidFill>
              </a:rPr>
              <a:t>Dual</a:t>
            </a:r>
            <a:r>
              <a:rPr dirty="0" sz="3200" spc="-5">
                <a:solidFill>
                  <a:srgbClr val="FF0000"/>
                </a:solidFill>
              </a:rPr>
              <a:t> </a:t>
            </a:r>
            <a:r>
              <a:rPr dirty="0" sz="3200">
                <a:solidFill>
                  <a:srgbClr val="FF0000"/>
                </a:solidFill>
              </a:rPr>
              <a:t>encryption</a:t>
            </a:r>
            <a:r>
              <a:rPr dirty="0" sz="3200" spc="-45">
                <a:solidFill>
                  <a:srgbClr val="FF0000"/>
                </a:solidFill>
              </a:rPr>
              <a:t> </a:t>
            </a:r>
            <a:r>
              <a:rPr dirty="0" sz="3200">
                <a:solidFill>
                  <a:srgbClr val="FF0000"/>
                </a:solidFill>
              </a:rPr>
              <a:t>based framework</a:t>
            </a:r>
            <a:r>
              <a:rPr dirty="0" sz="3200" spc="-35">
                <a:solidFill>
                  <a:srgbClr val="FF0000"/>
                </a:solidFill>
              </a:rPr>
              <a:t> </a:t>
            </a:r>
            <a:r>
              <a:rPr dirty="0" sz="3200">
                <a:solidFill>
                  <a:srgbClr val="FF0000"/>
                </a:solidFill>
              </a:rPr>
              <a:t>for</a:t>
            </a:r>
            <a:r>
              <a:rPr dirty="0" sz="3200" spc="-15">
                <a:solidFill>
                  <a:srgbClr val="FF0000"/>
                </a:solidFill>
              </a:rPr>
              <a:t> </a:t>
            </a:r>
            <a:r>
              <a:rPr dirty="0" sz="3200">
                <a:solidFill>
                  <a:srgbClr val="FF0000"/>
                </a:solidFill>
              </a:rPr>
              <a:t>medical</a:t>
            </a:r>
            <a:r>
              <a:rPr dirty="0" sz="3200" spc="-20">
                <a:solidFill>
                  <a:srgbClr val="FF0000"/>
                </a:solidFill>
              </a:rPr>
              <a:t> </a:t>
            </a:r>
            <a:r>
              <a:rPr dirty="0" sz="3200" spc="-10">
                <a:solidFill>
                  <a:srgbClr val="FF0000"/>
                </a:solidFill>
              </a:rPr>
              <a:t>images</a:t>
            </a:r>
            <a:r>
              <a:rPr dirty="0" sz="3600" spc="-10"/>
              <a:t>”</a:t>
            </a:r>
            <a:endParaRPr sz="3600"/>
          </a:p>
        </p:txBody>
      </p:sp>
      <p:grpSp>
        <p:nvGrpSpPr>
          <p:cNvPr id="5" name="object 5" descr=""/>
          <p:cNvGrpSpPr/>
          <p:nvPr/>
        </p:nvGrpSpPr>
        <p:grpSpPr>
          <a:xfrm>
            <a:off x="176784" y="3739896"/>
            <a:ext cx="6390640" cy="1941830"/>
            <a:chOff x="176784" y="3739896"/>
            <a:chExt cx="6390640" cy="194183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889" y="3958971"/>
              <a:ext cx="255477" cy="27374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920" y="3739896"/>
              <a:ext cx="1741932" cy="78943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75459" y="3739896"/>
              <a:ext cx="4177284" cy="78943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6784" y="4160520"/>
              <a:ext cx="702563" cy="72999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2920" y="4123944"/>
              <a:ext cx="4931664" cy="78943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6784" y="4544568"/>
              <a:ext cx="702563" cy="72999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2920" y="4507992"/>
              <a:ext cx="5878068" cy="78943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6784" y="4928616"/>
              <a:ext cx="702563" cy="72999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2920" y="4892040"/>
              <a:ext cx="6063996" cy="789432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368300" y="3832352"/>
            <a:ext cx="10085705" cy="2715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ts val="319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ROHIT</a:t>
            </a:r>
            <a:r>
              <a:rPr dirty="0" sz="2800" spc="-1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P..KHADSE</a:t>
            </a:r>
            <a:r>
              <a:rPr dirty="0" sz="2800" spc="-7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(AM22041)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ts val="3025"/>
              </a:lnSpc>
              <a:buAutoNum type="arabicPeriod"/>
              <a:tabLst>
                <a:tab pos="354965" algn="l"/>
              </a:tabLst>
            </a:pP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ISHA</a:t>
            </a:r>
            <a:r>
              <a:rPr dirty="0" sz="2800" spc="-7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P.BAIRAM(AM22019)</a:t>
            </a:r>
            <a:endParaRPr sz="2800">
              <a:latin typeface="Times New Roman"/>
              <a:cs typeface="Times New Roman"/>
            </a:endParaRPr>
          </a:p>
          <a:p>
            <a:pPr marL="354330" indent="-341630">
              <a:lnSpc>
                <a:spcPts val="3025"/>
              </a:lnSpc>
              <a:buAutoNum type="arabicPeriod"/>
              <a:tabLst>
                <a:tab pos="354330" algn="l"/>
              </a:tabLst>
            </a:pP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KHUSHI</a:t>
            </a:r>
            <a:r>
              <a:rPr dirty="0" sz="2800" spc="-7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H.GHATODE(AM22029)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ts val="3195"/>
              </a:lnSpc>
              <a:buAutoNum type="arabicPeriod"/>
              <a:tabLst>
                <a:tab pos="354965" algn="l"/>
                <a:tab pos="2371725" algn="l"/>
              </a:tabLst>
            </a:pP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SHRUSHTI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	I.ADKANE</a:t>
            </a:r>
            <a:r>
              <a:rPr dirty="0" sz="2800" spc="-1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(AM22005)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28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tabLst>
                <a:tab pos="7683500" algn="l"/>
              </a:tabLst>
            </a:pPr>
            <a:r>
              <a:rPr dirty="0" sz="3600">
                <a:latin typeface="Times New Roman"/>
                <a:cs typeface="Times New Roman"/>
              </a:rPr>
              <a:t>Guided</a:t>
            </a:r>
            <a:r>
              <a:rPr dirty="0" sz="3600" spc="-1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By</a:t>
            </a:r>
            <a:r>
              <a:rPr dirty="0" sz="3600" b="1">
                <a:latin typeface="Times New Roman"/>
                <a:cs typeface="Times New Roman"/>
              </a:rPr>
              <a:t>:</a:t>
            </a:r>
            <a:r>
              <a:rPr dirty="0" sz="3600" spc="-1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Asst.Prof.</a:t>
            </a:r>
            <a:r>
              <a:rPr dirty="0" sz="3600" spc="-20" b="1">
                <a:latin typeface="Times New Roman"/>
                <a:cs typeface="Times New Roman"/>
              </a:rPr>
              <a:t> </a:t>
            </a:r>
            <a:r>
              <a:rPr dirty="0" u="heavy" sz="3600" spc="-39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Ms.HARSHIKA</a:t>
            </a:r>
            <a:r>
              <a:rPr dirty="0" u="heavy" sz="36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3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DEHARIYA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4" y="361569"/>
            <a:ext cx="194373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Content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4961" y="1094943"/>
            <a:ext cx="4659630" cy="46196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52145" indent="-639445">
              <a:lnSpc>
                <a:spcPct val="100000"/>
              </a:lnSpc>
              <a:spcBef>
                <a:spcPts val="105"/>
              </a:spcBef>
              <a:buAutoNum type="arabicParenR"/>
              <a:tabLst>
                <a:tab pos="652145" algn="l"/>
              </a:tabLst>
            </a:pPr>
            <a:r>
              <a:rPr dirty="0" sz="3200" spc="-10">
                <a:latin typeface="Times New Roman"/>
                <a:cs typeface="Times New Roman"/>
              </a:rPr>
              <a:t>Introduction</a:t>
            </a:r>
            <a:endParaRPr sz="3200">
              <a:latin typeface="Times New Roman"/>
              <a:cs typeface="Times New Roman"/>
            </a:endParaRPr>
          </a:p>
          <a:p>
            <a:pPr marL="652145" indent="-639445">
              <a:lnSpc>
                <a:spcPct val="100000"/>
              </a:lnSpc>
              <a:spcBef>
                <a:spcPts val="195"/>
              </a:spcBef>
              <a:buAutoNum type="arabicParenR"/>
              <a:tabLst>
                <a:tab pos="652145" algn="l"/>
              </a:tabLst>
            </a:pPr>
            <a:r>
              <a:rPr dirty="0" sz="3200">
                <a:latin typeface="Times New Roman"/>
                <a:cs typeface="Times New Roman"/>
              </a:rPr>
              <a:t>Problem</a:t>
            </a:r>
            <a:r>
              <a:rPr dirty="0" sz="3200" spc="-5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Statement</a:t>
            </a:r>
            <a:endParaRPr sz="3200">
              <a:latin typeface="Times New Roman"/>
              <a:cs typeface="Times New Roman"/>
            </a:endParaRPr>
          </a:p>
          <a:p>
            <a:pPr marL="652145" indent="-639445">
              <a:lnSpc>
                <a:spcPct val="100000"/>
              </a:lnSpc>
              <a:spcBef>
                <a:spcPts val="204"/>
              </a:spcBef>
              <a:buAutoNum type="arabicParenR"/>
              <a:tabLst>
                <a:tab pos="652145" algn="l"/>
              </a:tabLst>
            </a:pPr>
            <a:r>
              <a:rPr dirty="0" sz="3200">
                <a:latin typeface="Times New Roman"/>
                <a:cs typeface="Times New Roman"/>
              </a:rPr>
              <a:t>Objectives</a:t>
            </a:r>
            <a:r>
              <a:rPr dirty="0" sz="3200" spc="-1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of</a:t>
            </a:r>
            <a:r>
              <a:rPr dirty="0" sz="3200" spc="-8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-9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Project</a:t>
            </a:r>
            <a:endParaRPr sz="3200">
              <a:latin typeface="Times New Roman"/>
              <a:cs typeface="Times New Roman"/>
            </a:endParaRPr>
          </a:p>
          <a:p>
            <a:pPr marL="652145" indent="-639445">
              <a:lnSpc>
                <a:spcPct val="100000"/>
              </a:lnSpc>
              <a:spcBef>
                <a:spcPts val="204"/>
              </a:spcBef>
              <a:buAutoNum type="arabicParenR"/>
              <a:tabLst>
                <a:tab pos="652145" algn="l"/>
              </a:tabLst>
            </a:pPr>
            <a:r>
              <a:rPr dirty="0" sz="3200">
                <a:latin typeface="Times New Roman"/>
                <a:cs typeface="Times New Roman"/>
              </a:rPr>
              <a:t>Literature</a:t>
            </a:r>
            <a:r>
              <a:rPr dirty="0" sz="3200" spc="-6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Review</a:t>
            </a:r>
            <a:endParaRPr sz="3200">
              <a:latin typeface="Times New Roman"/>
              <a:cs typeface="Times New Roman"/>
            </a:endParaRPr>
          </a:p>
          <a:p>
            <a:pPr marL="652145" indent="-639445">
              <a:lnSpc>
                <a:spcPct val="100000"/>
              </a:lnSpc>
              <a:spcBef>
                <a:spcPts val="190"/>
              </a:spcBef>
              <a:buAutoNum type="arabicParenR"/>
              <a:tabLst>
                <a:tab pos="652145" algn="l"/>
              </a:tabLst>
            </a:pPr>
            <a:r>
              <a:rPr dirty="0" sz="3200" spc="-10">
                <a:latin typeface="Times New Roman"/>
                <a:cs typeface="Times New Roman"/>
              </a:rPr>
              <a:t>Proposed</a:t>
            </a:r>
            <a:r>
              <a:rPr dirty="0" sz="3200" spc="-170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Work</a:t>
            </a:r>
            <a:endParaRPr sz="3200">
              <a:latin typeface="Times New Roman"/>
              <a:cs typeface="Times New Roman"/>
            </a:endParaRPr>
          </a:p>
          <a:p>
            <a:pPr marL="652145" indent="-639445">
              <a:lnSpc>
                <a:spcPct val="100000"/>
              </a:lnSpc>
              <a:spcBef>
                <a:spcPts val="204"/>
              </a:spcBef>
              <a:buAutoNum type="arabicParenR"/>
              <a:tabLst>
                <a:tab pos="652145" algn="l"/>
              </a:tabLst>
            </a:pPr>
            <a:r>
              <a:rPr dirty="0" sz="3200" spc="-10">
                <a:latin typeface="Times New Roman"/>
                <a:cs typeface="Times New Roman"/>
              </a:rPr>
              <a:t>Methodology</a:t>
            </a:r>
            <a:endParaRPr sz="3200">
              <a:latin typeface="Times New Roman"/>
              <a:cs typeface="Times New Roman"/>
            </a:endParaRPr>
          </a:p>
          <a:p>
            <a:pPr marL="652145" indent="-639445">
              <a:lnSpc>
                <a:spcPct val="100000"/>
              </a:lnSpc>
              <a:spcBef>
                <a:spcPts val="204"/>
              </a:spcBef>
              <a:buAutoNum type="arabicParenR"/>
              <a:tabLst>
                <a:tab pos="652145" algn="l"/>
              </a:tabLst>
            </a:pPr>
            <a:r>
              <a:rPr dirty="0" sz="3200">
                <a:latin typeface="Times New Roman"/>
                <a:cs typeface="Times New Roman"/>
              </a:rPr>
              <a:t>Expected</a:t>
            </a:r>
            <a:r>
              <a:rPr dirty="0" sz="3200" spc="-16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Outcomes</a:t>
            </a:r>
            <a:endParaRPr sz="3200">
              <a:latin typeface="Times New Roman"/>
              <a:cs typeface="Times New Roman"/>
            </a:endParaRPr>
          </a:p>
          <a:p>
            <a:pPr marL="652145" indent="-639445">
              <a:lnSpc>
                <a:spcPct val="100000"/>
              </a:lnSpc>
              <a:spcBef>
                <a:spcPts val="195"/>
              </a:spcBef>
              <a:buAutoNum type="arabicParenR"/>
              <a:tabLst>
                <a:tab pos="652145" algn="l"/>
              </a:tabLst>
            </a:pPr>
            <a:r>
              <a:rPr dirty="0" sz="3200">
                <a:latin typeface="Times New Roman"/>
                <a:cs typeface="Times New Roman"/>
              </a:rPr>
              <a:t>Project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Plan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&amp;</a:t>
            </a:r>
            <a:r>
              <a:rPr dirty="0" sz="3200" spc="-7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Timeline</a:t>
            </a:r>
            <a:endParaRPr sz="3200">
              <a:latin typeface="Times New Roman"/>
              <a:cs typeface="Times New Roman"/>
            </a:endParaRPr>
          </a:p>
          <a:p>
            <a:pPr marL="652145" indent="-639445">
              <a:lnSpc>
                <a:spcPct val="100000"/>
              </a:lnSpc>
              <a:spcBef>
                <a:spcPts val="204"/>
              </a:spcBef>
              <a:buAutoNum type="arabicParenR"/>
              <a:tabLst>
                <a:tab pos="652145" algn="l"/>
              </a:tabLst>
            </a:pPr>
            <a:r>
              <a:rPr dirty="0" sz="3200" spc="-10">
                <a:latin typeface="Times New Roman"/>
                <a:cs typeface="Times New Roman"/>
              </a:rPr>
              <a:t>References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96900" y="1240281"/>
            <a:ext cx="10854055" cy="4293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1971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project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focuses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addressing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growing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security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challenges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medical </a:t>
            </a:r>
            <a:r>
              <a:rPr dirty="0" sz="2800">
                <a:latin typeface="Times New Roman"/>
                <a:cs typeface="Times New Roman"/>
              </a:rPr>
              <a:t>imaging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due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digital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transformation.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With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rising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threats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like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cyberattacks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breaches,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traditional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single-layer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encryption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proves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insufficient.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framework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integrates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symmetric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encryption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(AES)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efficient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large- </a:t>
            </a:r>
            <a:r>
              <a:rPr dirty="0" sz="2800">
                <a:latin typeface="Times New Roman"/>
                <a:cs typeface="Times New Roman"/>
              </a:rPr>
              <a:t>scale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image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protection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asymmetric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cryptography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(RSA/ECC)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secure </a:t>
            </a:r>
            <a:r>
              <a:rPr dirty="0" sz="2800">
                <a:latin typeface="Times New Roman"/>
                <a:cs typeface="Times New Roman"/>
              </a:rPr>
              <a:t>key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management.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Inspired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by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studies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optimization,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deep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learning,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hybrid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methods,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it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aims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ensure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confidentiality,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robust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key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distribution,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efficiency.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This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solution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targets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storage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transmission </a:t>
            </a:r>
            <a:r>
              <a:rPr dirty="0" sz="2800">
                <a:latin typeface="Times New Roman"/>
                <a:cs typeface="Times New Roman"/>
              </a:rPr>
              <a:t>security,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adaptability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emerging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threats,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real-time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healthcare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needs, </a:t>
            </a:r>
            <a:r>
              <a:rPr dirty="0" sz="2800">
                <a:latin typeface="Times New Roman"/>
                <a:cs typeface="Times New Roman"/>
              </a:rPr>
              <a:t>strengthening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trust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patient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integrity.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0807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96900" y="1194561"/>
            <a:ext cx="10914380" cy="55740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9085" marR="116839" indent="-287020">
              <a:lnSpc>
                <a:spcPct val="100000"/>
              </a:lnSpc>
              <a:spcBef>
                <a:spcPts val="95"/>
              </a:spcBef>
            </a:pPr>
            <a:r>
              <a:rPr dirty="0" sz="2400">
                <a:latin typeface="Times New Roman"/>
                <a:cs typeface="Times New Roman"/>
              </a:rPr>
              <a:t>“</a:t>
            </a:r>
            <a:r>
              <a:rPr dirty="0" sz="2800" b="1">
                <a:latin typeface="Times New Roman"/>
                <a:cs typeface="Times New Roman"/>
              </a:rPr>
              <a:t>A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Dual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Encryption-</a:t>
            </a:r>
            <a:r>
              <a:rPr dirty="0" sz="2800" b="1">
                <a:latin typeface="Times New Roman"/>
                <a:cs typeface="Times New Roman"/>
              </a:rPr>
              <a:t>Based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Framework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for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Securing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Medical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Images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in </a:t>
            </a:r>
            <a:r>
              <a:rPr dirty="0" sz="2800" b="1">
                <a:latin typeface="Times New Roman"/>
                <a:cs typeface="Times New Roman"/>
              </a:rPr>
              <a:t>Healthcare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Systems</a:t>
            </a:r>
            <a:r>
              <a:rPr dirty="0" sz="2400" spc="-10">
                <a:latin typeface="Times New Roman"/>
                <a:cs typeface="Times New Roman"/>
              </a:rPr>
              <a:t>”</a:t>
            </a:r>
            <a:endParaRPr sz="2400">
              <a:latin typeface="Times New Roman"/>
              <a:cs typeface="Times New Roman"/>
            </a:endParaRPr>
          </a:p>
          <a:p>
            <a:pPr algn="just" marL="299085" marR="163830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healthcare,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medical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images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like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X-</a:t>
            </a:r>
            <a:r>
              <a:rPr dirty="0" sz="2800">
                <a:latin typeface="Times New Roman"/>
                <a:cs typeface="Times New Roman"/>
              </a:rPr>
              <a:t>rays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MRIs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often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contain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private </a:t>
            </a:r>
            <a:r>
              <a:rPr dirty="0" sz="2800">
                <a:latin typeface="Times New Roman"/>
                <a:cs typeface="Times New Roman"/>
              </a:rPr>
              <a:t>patient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information.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If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this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not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properly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protected,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stolen, </a:t>
            </a:r>
            <a:r>
              <a:rPr dirty="0" sz="2800">
                <a:latin typeface="Times New Roman"/>
                <a:cs typeface="Times New Roman"/>
              </a:rPr>
              <a:t>changed,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misused.</a:t>
            </a:r>
            <a:endParaRPr sz="2800">
              <a:latin typeface="Times New Roman"/>
              <a:cs typeface="Times New Roman"/>
            </a:endParaRPr>
          </a:p>
          <a:p>
            <a:pPr marL="299085" marR="108585">
              <a:lnSpc>
                <a:spcPct val="100000"/>
              </a:lnSpc>
            </a:pP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only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encryption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keeps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safe,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but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it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still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looks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suspicious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can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attract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hackers.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only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steganography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hides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but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may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not </a:t>
            </a:r>
            <a:r>
              <a:rPr dirty="0" sz="2800">
                <a:latin typeface="Times New Roman"/>
                <a:cs typeface="Times New Roman"/>
              </a:rPr>
              <a:t>fully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protect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if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someone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finds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it.</a:t>
            </a:r>
            <a:endParaRPr sz="2800">
              <a:latin typeface="Times New Roman"/>
              <a:cs typeface="Times New Roman"/>
            </a:endParaRPr>
          </a:p>
          <a:p>
            <a:pPr marL="299085" marR="12700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latin typeface="Times New Roman"/>
                <a:cs typeface="Times New Roman"/>
              </a:rPr>
              <a:t>So,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there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need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better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method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both hides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protects </a:t>
            </a:r>
            <a:r>
              <a:rPr dirty="0" sz="2800">
                <a:latin typeface="Times New Roman"/>
                <a:cs typeface="Times New Roman"/>
              </a:rPr>
              <a:t>it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with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encryption.</a:t>
            </a:r>
            <a:endParaRPr sz="2800">
              <a:latin typeface="Times New Roman"/>
              <a:cs typeface="Times New Roman"/>
            </a:endParaRPr>
          </a:p>
          <a:p>
            <a:pPr marL="299085" marR="5080">
              <a:lnSpc>
                <a:spcPct val="100000"/>
              </a:lnSpc>
            </a:pPr>
            <a:r>
              <a:rPr dirty="0" sz="2800">
                <a:latin typeface="Times New Roman"/>
                <a:cs typeface="Times New Roman"/>
              </a:rPr>
              <a:t>This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project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aims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build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dual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encryption-</a:t>
            </a:r>
            <a:r>
              <a:rPr dirty="0" sz="2800">
                <a:latin typeface="Times New Roman"/>
                <a:cs typeface="Times New Roman"/>
              </a:rPr>
              <a:t>based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framework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uses </a:t>
            </a:r>
            <a:r>
              <a:rPr dirty="0" sz="2800">
                <a:latin typeface="Times New Roman"/>
                <a:cs typeface="Times New Roman"/>
              </a:rPr>
              <a:t>both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cryptography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steganography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securely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hide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protect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medical </a:t>
            </a:r>
            <a:r>
              <a:rPr dirty="0" sz="2800">
                <a:latin typeface="Times New Roman"/>
                <a:cs typeface="Times New Roman"/>
              </a:rPr>
              <a:t>images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healthcare</a:t>
            </a:r>
            <a:r>
              <a:rPr dirty="0" sz="2800" spc="-10">
                <a:latin typeface="Times New Roman"/>
                <a:cs typeface="Times New Roman"/>
              </a:rPr>
              <a:t> systems.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818515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dirty="0" spc="-125"/>
              <a:t> </a:t>
            </a:r>
            <a:r>
              <a:rPr dirty="0" spc="-10"/>
              <a:t>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6744" y="929081"/>
            <a:ext cx="10487025" cy="4720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384" marR="5080" indent="-2032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ensure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confidentiality,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integrity,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privacy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patient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embedded </a:t>
            </a:r>
            <a:r>
              <a:rPr dirty="0" sz="2800">
                <a:latin typeface="Times New Roman"/>
                <a:cs typeface="Times New Roman"/>
              </a:rPr>
              <a:t>within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medical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images.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800">
              <a:latin typeface="Times New Roman"/>
              <a:cs typeface="Times New Roman"/>
            </a:endParaRPr>
          </a:p>
          <a:p>
            <a:pPr marL="32384" marR="20320">
              <a:lnSpc>
                <a:spcPct val="100000"/>
              </a:lnSpc>
            </a:pP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prevent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unauthorized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access,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leaks,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tampering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during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storage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transmission.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32384" marR="52705">
              <a:lnSpc>
                <a:spcPct val="100000"/>
              </a:lnSpc>
            </a:pP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maintain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image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quality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diagnostic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usability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after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embedding.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framework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supports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embedding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various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patient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(name,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ID, </a:t>
            </a:r>
            <a:r>
              <a:rPr dirty="0" sz="2800">
                <a:latin typeface="Times New Roman"/>
                <a:cs typeface="Times New Roman"/>
              </a:rPr>
              <a:t>diagnosis)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into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medical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images.</a:t>
            </a:r>
            <a:endParaRPr sz="2800">
              <a:latin typeface="Times New Roman"/>
              <a:cs typeface="Times New Roman"/>
            </a:endParaRPr>
          </a:p>
          <a:p>
            <a:pPr marL="32384" marR="76200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latin typeface="Times New Roman"/>
                <a:cs typeface="Times New Roman"/>
              </a:rPr>
              <a:t>Uses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symmetric/asymmetric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encryption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(e.g.,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AES,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RSA)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strong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data </a:t>
            </a:r>
            <a:r>
              <a:rPr dirty="0" sz="2800" spc="-10">
                <a:latin typeface="Times New Roman"/>
                <a:cs typeface="Times New Roman"/>
              </a:rPr>
              <a:t>protection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Objectives</a:t>
            </a:r>
            <a:r>
              <a:rPr dirty="0" spc="-114"/>
              <a:t> </a:t>
            </a:r>
            <a:r>
              <a:rPr dirty="0"/>
              <a:t>of</a:t>
            </a:r>
            <a:r>
              <a:rPr dirty="0" spc="-105"/>
              <a:t> </a:t>
            </a:r>
            <a:r>
              <a:rPr dirty="0"/>
              <a:t>the</a:t>
            </a:r>
            <a:r>
              <a:rPr dirty="0" spc="-100"/>
              <a:t> </a:t>
            </a:r>
            <a:r>
              <a:rPr dirty="0" spc="-10"/>
              <a:t>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658" rIns="0" bIns="0" rtlCol="0" vert="horz">
            <a:spAutoFit/>
          </a:bodyPr>
          <a:lstStyle/>
          <a:p>
            <a:pPr marL="9906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dirty="0" spc="-90"/>
              <a:t> </a:t>
            </a:r>
            <a:r>
              <a:rPr dirty="0" spc="-10"/>
              <a:t>Review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66331" y="831850"/>
          <a:ext cx="11503660" cy="6019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4860"/>
                <a:gridCol w="5024120"/>
                <a:gridCol w="2648585"/>
                <a:gridCol w="2956559"/>
              </a:tblGrid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Sr.No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9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Title</a:t>
                      </a:r>
                      <a:r>
                        <a:rPr dirty="0" sz="1800" spc="229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dirty="0" sz="1800" spc="229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Paper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spc="9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Author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7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Major</a:t>
                      </a:r>
                      <a:r>
                        <a:rPr dirty="0" sz="1800" spc="23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Observations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5029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400" spc="-5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MID-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Crypt: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Cryptographic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Algorithm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Advanced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Medical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Images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Protection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Ashraf</a:t>
                      </a:r>
                      <a:r>
                        <a:rPr dirty="0" sz="18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Ahmad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Yousef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AbuHour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Remah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Younisse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Yasmeen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Alslman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Eman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Alnagi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and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Qasem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Abu</a:t>
                      </a:r>
                      <a:r>
                        <a:rPr dirty="0" sz="1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Al-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Haija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46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combining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cryptography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steganography</a:t>
                      </a:r>
                      <a:r>
                        <a:rPr dirty="0" sz="18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offers</a:t>
                      </a:r>
                      <a:r>
                        <a:rPr dirty="0" sz="18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stronger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security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medical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images</a:t>
                      </a:r>
                      <a:r>
                        <a:rPr dirty="0" sz="18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protecting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both</a:t>
                      </a:r>
                      <a:r>
                        <a:rPr dirty="0" sz="18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content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its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presence.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Techniques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AES,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RSA,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LSB,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DWT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ensure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confidentiality</a:t>
                      </a:r>
                      <a:r>
                        <a:rPr dirty="0" sz="18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imperceptibility,</a:t>
                      </a:r>
                      <a:r>
                        <a:rPr dirty="0" sz="18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while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advanced</a:t>
                      </a:r>
                      <a:r>
                        <a:rPr dirty="0" sz="18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methods</a:t>
                      </a:r>
                      <a:r>
                        <a:rPr dirty="0" sz="18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like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 marR="952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chaos-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based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encryption,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DNA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coding,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signcryption improve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resistance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attacks.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study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also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notes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need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lightweight,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scalable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solutions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real-time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healthcare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telemedicine systems.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8486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dirty="0" spc="-85"/>
              <a:t> </a:t>
            </a:r>
            <a:r>
              <a:rPr dirty="0" spc="-10"/>
              <a:t>Review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298450" y="831850"/>
          <a:ext cx="11595100" cy="5638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4991100"/>
                <a:gridCol w="2876550"/>
                <a:gridCol w="2876550"/>
              </a:tblGrid>
              <a:tr h="11995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Sr.No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9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Title</a:t>
                      </a:r>
                      <a:r>
                        <a:rPr dirty="0" sz="1800" spc="229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dirty="0" sz="1800" spc="229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Paper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spc="95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Author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7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Major</a:t>
                      </a:r>
                      <a:r>
                        <a:rPr dirty="0" sz="1800" spc="25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Observations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44386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400" spc="-5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6002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Medical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Image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Security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Dual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Encryption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with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Oppositional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Based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Optimization</a:t>
                      </a:r>
                      <a:r>
                        <a:rPr dirty="0" sz="18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Algorithm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04520">
                        <a:lnSpc>
                          <a:spcPct val="100099"/>
                        </a:lnSpc>
                        <a:spcBef>
                          <a:spcPts val="240"/>
                        </a:spcBef>
                      </a:pPr>
                      <a:r>
                        <a:rPr dirty="0" sz="1800" spc="-85">
                          <a:latin typeface="Calibri"/>
                          <a:cs typeface="Calibri"/>
                        </a:rPr>
                        <a:t>T.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Avudaiappan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R.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Balasubramanian</a:t>
                      </a:r>
                      <a:r>
                        <a:rPr dirty="0" sz="18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8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S.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Sundara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Pandiyan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M.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Saravanan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S.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K.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Lakshmanaprabu&amp;</a:t>
                      </a:r>
                      <a:r>
                        <a:rPr dirty="0" sz="1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K.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Shankar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6364">
                        <a:lnSpc>
                          <a:spcPct val="100099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dual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encryption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method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Blowfish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Signcryption,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enhanced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by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optimization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algorithm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secure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medical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images.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It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ensures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security,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image quality,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resistance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attacks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while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reducing computational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cost.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method</a:t>
                      </a:r>
                      <a:r>
                        <a:rPr dirty="0" sz="18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outperforms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traditional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techniques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is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well-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suited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protecting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medical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healthcare systems.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076325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dirty="0" spc="-200"/>
              <a:t> </a:t>
            </a:r>
            <a:r>
              <a:rPr dirty="0" spc="-20"/>
              <a:t>Work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3540" y="1545462"/>
            <a:ext cx="11353800" cy="4719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 b="1">
                <a:latin typeface="Times New Roman"/>
                <a:cs typeface="Times New Roman"/>
              </a:rPr>
              <a:t>Layer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1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–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Chaos-</a:t>
            </a:r>
            <a:r>
              <a:rPr dirty="0" sz="2800" b="1">
                <a:latin typeface="Times New Roman"/>
                <a:cs typeface="Times New Roman"/>
              </a:rPr>
              <a:t>enhanced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AES:</a:t>
            </a:r>
            <a:r>
              <a:rPr dirty="0" sz="2800" spc="-5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Encrypt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medical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images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AES</a:t>
            </a:r>
            <a:r>
              <a:rPr dirty="0" sz="2800" spc="-20">
                <a:latin typeface="Times New Roman"/>
                <a:cs typeface="Times New Roman"/>
              </a:rPr>
              <a:t> with </a:t>
            </a:r>
            <a:r>
              <a:rPr dirty="0" sz="2800">
                <a:latin typeface="Times New Roman"/>
                <a:cs typeface="Times New Roman"/>
              </a:rPr>
              <a:t>pixel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permutation,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dynamic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S-</a:t>
            </a:r>
            <a:r>
              <a:rPr dirty="0" sz="2800">
                <a:latin typeface="Times New Roman"/>
                <a:cs typeface="Times New Roman"/>
              </a:rPr>
              <a:t>boxes,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XOR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diffusion,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CBC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mode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high </a:t>
            </a:r>
            <a:r>
              <a:rPr dirty="0" sz="2800" spc="-10">
                <a:latin typeface="Times New Roman"/>
                <a:cs typeface="Times New Roman"/>
              </a:rPr>
              <a:t>security.</a:t>
            </a:r>
            <a:endParaRPr sz="2800">
              <a:latin typeface="Times New Roman"/>
              <a:cs typeface="Times New Roman"/>
            </a:endParaRPr>
          </a:p>
          <a:p>
            <a:pPr marL="299085" marR="7620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800" b="1">
                <a:latin typeface="Times New Roman"/>
                <a:cs typeface="Times New Roman"/>
              </a:rPr>
              <a:t>Layer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2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–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Dual-</a:t>
            </a:r>
            <a:r>
              <a:rPr dirty="0" sz="2800" b="1">
                <a:latin typeface="Times New Roman"/>
                <a:cs typeface="Times New Roman"/>
              </a:rPr>
              <a:t>key</a:t>
            </a:r>
            <a:r>
              <a:rPr dirty="0" sz="2800" spc="-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system: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static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dynamic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keys;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static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key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slightly </a:t>
            </a:r>
            <a:r>
              <a:rPr dirty="0" sz="2800">
                <a:latin typeface="Times New Roman"/>
                <a:cs typeface="Times New Roman"/>
              </a:rPr>
              <a:t>modified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extra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security.</a:t>
            </a:r>
            <a:endParaRPr sz="2800">
              <a:latin typeface="Times New Roman"/>
              <a:cs typeface="Times New Roman"/>
            </a:endParaRPr>
          </a:p>
          <a:p>
            <a:pPr marL="299085" marR="82804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800" b="1">
                <a:latin typeface="Times New Roman"/>
                <a:cs typeface="Times New Roman"/>
              </a:rPr>
              <a:t>Secure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key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exchange: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Protect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keys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with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RSA/ECC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encrypt</a:t>
            </a:r>
            <a:r>
              <a:rPr dirty="0" sz="2800" spc="-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bit-</a:t>
            </a:r>
            <a:r>
              <a:rPr dirty="0" sz="2800" spc="-20">
                <a:latin typeface="Times New Roman"/>
                <a:cs typeface="Times New Roman"/>
              </a:rPr>
              <a:t>flip </a:t>
            </a:r>
            <a:r>
              <a:rPr dirty="0" sz="2800">
                <a:latin typeface="Times New Roman"/>
                <a:cs typeface="Times New Roman"/>
              </a:rPr>
              <a:t>position</a:t>
            </a:r>
            <a:r>
              <a:rPr dirty="0" sz="2800" spc="-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ElGamal.</a:t>
            </a:r>
            <a:endParaRPr sz="2800">
              <a:latin typeface="Times New Roman"/>
              <a:cs typeface="Times New Roman"/>
            </a:endParaRPr>
          </a:p>
          <a:p>
            <a:pPr marL="299085" marR="58356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800" b="1">
                <a:latin typeface="Times New Roman"/>
                <a:cs typeface="Times New Roman"/>
              </a:rPr>
              <a:t>Steganography: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Embed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keys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QR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code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LSB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steganography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for </a:t>
            </a:r>
            <a:r>
              <a:rPr dirty="0" sz="2800">
                <a:latin typeface="Times New Roman"/>
                <a:cs typeface="Times New Roman"/>
              </a:rPr>
              <a:t>covert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transmission.</a:t>
            </a:r>
            <a:endParaRPr sz="2800">
              <a:latin typeface="Times New Roman"/>
              <a:cs typeface="Times New Roman"/>
            </a:endParaRPr>
          </a:p>
          <a:p>
            <a:pPr marL="299085" marR="17272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800" b="1">
                <a:latin typeface="Times New Roman"/>
                <a:cs typeface="Times New Roman"/>
              </a:rPr>
              <a:t>Technology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stack: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Python,</a:t>
            </a:r>
            <a:r>
              <a:rPr dirty="0" sz="2800" spc="-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Streamlit,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Flask,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AES,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RSA,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pydicom;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designed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HIPAA/GDPR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compliance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real-time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healthcare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use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342" rIns="0" bIns="0" rtlCol="0" vert="horz">
            <a:spAutoFit/>
          </a:bodyPr>
          <a:lstStyle/>
          <a:p>
            <a:pPr marL="133540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Methodology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025" y="1143000"/>
            <a:ext cx="1077277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10565">
              <a:lnSpc>
                <a:spcPct val="100000"/>
              </a:lnSpc>
              <a:spcBef>
                <a:spcPts val="100"/>
              </a:spcBef>
            </a:pPr>
            <a:r>
              <a:rPr dirty="0"/>
              <a:t>Expected</a:t>
            </a:r>
            <a:r>
              <a:rPr dirty="0" spc="-145"/>
              <a:t> </a:t>
            </a:r>
            <a:r>
              <a:rPr dirty="0" spc="-10"/>
              <a:t>Outcomes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411681"/>
            <a:ext cx="10248265" cy="3866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marR="473075" indent="-4572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800" b="1">
                <a:latin typeface="Times New Roman"/>
                <a:cs typeface="Times New Roman"/>
              </a:rPr>
              <a:t>High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security: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Strong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protection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medical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images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using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chaos- </a:t>
            </a:r>
            <a:r>
              <a:rPr dirty="0" sz="2800">
                <a:latin typeface="Times New Roman"/>
                <a:cs typeface="Times New Roman"/>
              </a:rPr>
              <a:t>enhanced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AES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asymmetric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cryptography.</a:t>
            </a:r>
            <a:endParaRPr sz="2800">
              <a:latin typeface="Times New Roman"/>
              <a:cs typeface="Times New Roman"/>
            </a:endParaRPr>
          </a:p>
          <a:p>
            <a:pPr marL="469900" marR="19431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800" b="1">
                <a:latin typeface="Times New Roman"/>
                <a:cs typeface="Times New Roman"/>
              </a:rPr>
              <a:t>Efficient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key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management: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Secure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covert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distribution</a:t>
            </a:r>
            <a:r>
              <a:rPr dirty="0" sz="2800" spc="-1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keys </a:t>
            </a:r>
            <a:r>
              <a:rPr dirty="0" sz="2800">
                <a:latin typeface="Times New Roman"/>
                <a:cs typeface="Times New Roman"/>
              </a:rPr>
              <a:t>through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dual-</a:t>
            </a:r>
            <a:r>
              <a:rPr dirty="0" sz="2800">
                <a:latin typeface="Times New Roman"/>
                <a:cs typeface="Times New Roman"/>
              </a:rPr>
              <a:t>key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steganography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techniques.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 b="1">
                <a:latin typeface="Times New Roman"/>
                <a:cs typeface="Times New Roman"/>
              </a:rPr>
              <a:t>Compliance: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Framework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aligned</a:t>
            </a:r>
            <a:r>
              <a:rPr dirty="0" sz="2800" spc="-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with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HIPAA/GDPR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standards.</a:t>
            </a:r>
            <a:endParaRPr sz="28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 sz="2800" b="1">
                <a:latin typeface="Times New Roman"/>
                <a:cs typeface="Times New Roman"/>
              </a:rPr>
              <a:t>Performance: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Low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computational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overhead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real-time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healthcare </a:t>
            </a:r>
            <a:r>
              <a:rPr dirty="0" sz="2800">
                <a:latin typeface="Times New Roman"/>
                <a:cs typeface="Times New Roman"/>
              </a:rPr>
              <a:t>applications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like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telemedicine.</a:t>
            </a:r>
            <a:endParaRPr sz="2800">
              <a:latin typeface="Times New Roman"/>
              <a:cs typeface="Times New Roman"/>
            </a:endParaRPr>
          </a:p>
          <a:p>
            <a:pPr marL="469900" marR="33147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800" b="1">
                <a:latin typeface="Times New Roman"/>
                <a:cs typeface="Times New Roman"/>
              </a:rPr>
              <a:t>Robustness: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Resistance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brute-</a:t>
            </a:r>
            <a:r>
              <a:rPr dirty="0" sz="2800">
                <a:latin typeface="Times New Roman"/>
                <a:cs typeface="Times New Roman"/>
              </a:rPr>
              <a:t>force,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statistical,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differential,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 spc="-10">
                <a:latin typeface="Times New Roman"/>
                <a:cs typeface="Times New Roman"/>
              </a:rPr>
              <a:t>quantum-</a:t>
            </a:r>
            <a:r>
              <a:rPr dirty="0" sz="2800">
                <a:latin typeface="Times New Roman"/>
                <a:cs typeface="Times New Roman"/>
              </a:rPr>
              <a:t>era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attacks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with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strong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entropy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sensitivity</a:t>
            </a:r>
            <a:r>
              <a:rPr dirty="0" sz="2800" spc="-8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metrics.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3046" y="-5715"/>
            <a:ext cx="582422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60"/>
              <a:t> </a:t>
            </a:r>
            <a:r>
              <a:rPr dirty="0"/>
              <a:t>Plan</a:t>
            </a:r>
            <a:r>
              <a:rPr dirty="0" spc="-15"/>
              <a:t> </a:t>
            </a:r>
            <a:r>
              <a:rPr dirty="0"/>
              <a:t>&amp;</a:t>
            </a:r>
            <a:r>
              <a:rPr dirty="0" spc="-75"/>
              <a:t> </a:t>
            </a:r>
            <a:r>
              <a:rPr dirty="0" spc="-10"/>
              <a:t>Timeline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74650" y="713358"/>
          <a:ext cx="11671300" cy="568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7170"/>
                <a:gridCol w="6235064"/>
                <a:gridCol w="3861434"/>
              </a:tblGrid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Sr. 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1337310" algn="l"/>
                        </a:tabLst>
                      </a:pP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Duration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of</a:t>
                      </a:r>
                      <a:r>
                        <a:rPr dirty="0" sz="2400" spc="-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Week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1667510" algn="l"/>
                          <a:tab pos="2141855" algn="l"/>
                        </a:tabLst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Work 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Done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projectees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June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15July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Topic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15July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18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July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project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18 July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31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July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Divide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task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module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Aug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18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Aug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working on</a:t>
                      </a:r>
                      <a:r>
                        <a:rPr dirty="0" sz="24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project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46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19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Aug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15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Sept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1st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completed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658" rIns="0" bIns="0" rtlCol="0" vert="horz">
            <a:spAutoFit/>
          </a:bodyPr>
          <a:lstStyle/>
          <a:p>
            <a:pPr marL="17252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196215" indent="-10795">
              <a:lnSpc>
                <a:spcPct val="100000"/>
              </a:lnSpc>
              <a:spcBef>
                <a:spcPts val="95"/>
              </a:spcBef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dirty="0" b="1">
                <a:latin typeface="Times New Roman"/>
                <a:cs typeface="Times New Roman"/>
              </a:rPr>
              <a:t>	</a:t>
            </a:r>
            <a:r>
              <a:rPr dirty="0" b="1">
                <a:latin typeface="Times New Roman"/>
                <a:cs typeface="Times New Roman"/>
              </a:rPr>
              <a:t>T.</a:t>
            </a:r>
            <a:r>
              <a:rPr dirty="0" spc="-7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Avudaiappan</a:t>
            </a:r>
            <a:r>
              <a:rPr dirty="0" spc="-5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and</a:t>
            </a:r>
            <a:r>
              <a:rPr dirty="0" spc="-5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R.</a:t>
            </a:r>
            <a:r>
              <a:rPr dirty="0" spc="-6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Balasubramanian</a:t>
            </a:r>
            <a:r>
              <a:rPr dirty="0" spc="-5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(2018).</a:t>
            </a:r>
            <a:r>
              <a:rPr dirty="0" spc="-80" b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Medical</a:t>
            </a:r>
            <a:r>
              <a:rPr dirty="0" spc="-7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Image</a:t>
            </a:r>
            <a:r>
              <a:rPr dirty="0" spc="-7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Security </a:t>
            </a:r>
            <a:r>
              <a:rPr dirty="0" i="1">
                <a:latin typeface="Times New Roman"/>
                <a:cs typeface="Times New Roman"/>
              </a:rPr>
              <a:t>Using</a:t>
            </a:r>
            <a:r>
              <a:rPr dirty="0" spc="-2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Dual</a:t>
            </a:r>
            <a:r>
              <a:rPr dirty="0" spc="-3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Encryption.</a:t>
            </a:r>
            <a:r>
              <a:rPr dirty="0" spc="-40" i="1">
                <a:latin typeface="Times New Roman"/>
                <a:cs typeface="Times New Roman"/>
              </a:rPr>
              <a:t> </a:t>
            </a:r>
            <a:r>
              <a:rPr dirty="0"/>
              <a:t>International</a:t>
            </a:r>
            <a:r>
              <a:rPr dirty="0" spc="-50"/>
              <a:t> </a:t>
            </a:r>
            <a:r>
              <a:rPr dirty="0"/>
              <a:t>Journal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Computer</a:t>
            </a:r>
            <a:r>
              <a:rPr dirty="0" spc="-35"/>
              <a:t> </a:t>
            </a:r>
            <a:r>
              <a:rPr dirty="0"/>
              <a:t>Sciences</a:t>
            </a:r>
            <a:r>
              <a:rPr dirty="0" spc="-35"/>
              <a:t> </a:t>
            </a:r>
            <a:r>
              <a:rPr dirty="0" spc="-25"/>
              <a:t>and </a:t>
            </a:r>
            <a:r>
              <a:rPr dirty="0"/>
              <a:t>Engineering,</a:t>
            </a:r>
            <a:r>
              <a:rPr dirty="0" spc="-105"/>
              <a:t> </a:t>
            </a:r>
            <a:r>
              <a:rPr dirty="0"/>
              <a:t>6(5),</a:t>
            </a:r>
            <a:r>
              <a:rPr dirty="0" spc="-95"/>
              <a:t> </a:t>
            </a:r>
            <a:r>
              <a:rPr dirty="0" spc="-10"/>
              <a:t>230–238.</a:t>
            </a:r>
          </a:p>
          <a:p>
            <a:pPr>
              <a:lnSpc>
                <a:spcPct val="100000"/>
              </a:lnSpc>
              <a:spcBef>
                <a:spcPts val="140"/>
              </a:spcBef>
              <a:buFont typeface="Times New Roman"/>
              <a:buChar char="•"/>
            </a:pPr>
          </a:p>
          <a:p>
            <a:pPr marL="12700" marR="5080" indent="-10795">
              <a:lnSpc>
                <a:spcPct val="100000"/>
              </a:lnSpc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dirty="0" b="1">
                <a:latin typeface="Times New Roman"/>
                <a:cs typeface="Times New Roman"/>
              </a:rPr>
              <a:t>	</a:t>
            </a:r>
            <a:r>
              <a:rPr dirty="0" b="1">
                <a:latin typeface="Times New Roman"/>
                <a:cs typeface="Times New Roman"/>
              </a:rPr>
              <a:t>Ahmad,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A.,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Younisse,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R.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(2022).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spc="-25" i="1">
                <a:latin typeface="Times New Roman"/>
                <a:cs typeface="Times New Roman"/>
              </a:rPr>
              <a:t>MID-</a:t>
            </a:r>
            <a:r>
              <a:rPr dirty="0" i="1">
                <a:latin typeface="Times New Roman"/>
                <a:cs typeface="Times New Roman"/>
              </a:rPr>
              <a:t>Crypt:</a:t>
            </a:r>
            <a:r>
              <a:rPr dirty="0" spc="-3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</a:t>
            </a:r>
            <a:r>
              <a:rPr dirty="0" spc="-4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Cryptographic</a:t>
            </a:r>
            <a:r>
              <a:rPr dirty="0" spc="-8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Algorithm</a:t>
            </a:r>
            <a:r>
              <a:rPr dirty="0" spc="-60" i="1">
                <a:latin typeface="Times New Roman"/>
                <a:cs typeface="Times New Roman"/>
              </a:rPr>
              <a:t> </a:t>
            </a:r>
            <a:r>
              <a:rPr dirty="0" spc="-25" i="1">
                <a:latin typeface="Times New Roman"/>
                <a:cs typeface="Times New Roman"/>
              </a:rPr>
              <a:t>for </a:t>
            </a:r>
            <a:r>
              <a:rPr dirty="0" i="1">
                <a:latin typeface="Times New Roman"/>
                <a:cs typeface="Times New Roman"/>
              </a:rPr>
              <a:t>Advanced</a:t>
            </a:r>
            <a:r>
              <a:rPr dirty="0" spc="-9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Medical</a:t>
            </a:r>
            <a:r>
              <a:rPr dirty="0" spc="-8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Images</a:t>
            </a:r>
            <a:r>
              <a:rPr dirty="0" spc="-85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Protection.</a:t>
            </a:r>
          </a:p>
          <a:p>
            <a:pPr>
              <a:lnSpc>
                <a:spcPct val="100000"/>
              </a:lnSpc>
              <a:spcBef>
                <a:spcPts val="145"/>
              </a:spcBef>
              <a:buFont typeface="Times New Roman"/>
              <a:buChar char="•"/>
            </a:pPr>
          </a:p>
          <a:p>
            <a:pPr marL="12700" marR="900430" indent="-10795">
              <a:lnSpc>
                <a:spcPct val="100000"/>
              </a:lnSpc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dirty="0" b="1">
                <a:latin typeface="Times New Roman"/>
                <a:cs typeface="Times New Roman"/>
              </a:rPr>
              <a:t>	</a:t>
            </a:r>
            <a:r>
              <a:rPr dirty="0" b="1">
                <a:latin typeface="Times New Roman"/>
                <a:cs typeface="Times New Roman"/>
              </a:rPr>
              <a:t>Kusum</a:t>
            </a:r>
            <a:r>
              <a:rPr dirty="0" spc="-6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Lata,</a:t>
            </a:r>
            <a:r>
              <a:rPr dirty="0" spc="-7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Linga</a:t>
            </a:r>
            <a:r>
              <a:rPr dirty="0" spc="-8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Reddy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Cenkeramaddi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(2023).</a:t>
            </a:r>
            <a:r>
              <a:rPr dirty="0" spc="-90" b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Deep</a:t>
            </a:r>
            <a:r>
              <a:rPr dirty="0" spc="-7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Learning</a:t>
            </a:r>
            <a:r>
              <a:rPr dirty="0" spc="-85" i="1">
                <a:latin typeface="Times New Roman"/>
                <a:cs typeface="Times New Roman"/>
              </a:rPr>
              <a:t> </a:t>
            </a:r>
            <a:r>
              <a:rPr dirty="0" spc="-25" i="1">
                <a:latin typeface="Times New Roman"/>
                <a:cs typeface="Times New Roman"/>
              </a:rPr>
              <a:t>for </a:t>
            </a:r>
            <a:r>
              <a:rPr dirty="0" i="1">
                <a:latin typeface="Times New Roman"/>
                <a:cs typeface="Times New Roman"/>
              </a:rPr>
              <a:t>Medical</a:t>
            </a:r>
            <a:r>
              <a:rPr dirty="0" spc="-6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Image</a:t>
            </a:r>
            <a:r>
              <a:rPr dirty="0" spc="-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Cryptography:</a:t>
            </a:r>
            <a:r>
              <a:rPr dirty="0" spc="-9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</a:t>
            </a:r>
            <a:r>
              <a:rPr dirty="0" spc="-6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Comprehensive</a:t>
            </a:r>
            <a:r>
              <a:rPr dirty="0" spc="-7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dc:title>Seminar-1_format.pptx</dc:title>
  <dcterms:created xsi:type="dcterms:W3CDTF">2025-12-03T15:52:24Z</dcterms:created>
  <dcterms:modified xsi:type="dcterms:W3CDTF">2025-12-03T15:52:24Z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2025-12-03T00:00:00Z</vt:filetime>
  </property>
  <property fmtid="{D5CDD505-2E9C-101B-9397-08002B2CF9AE}" pid="5" name="Producer">
    <vt:lpwstr>Microsoft® PowerPoint® 2013</vt:lpwstr>
  </property>
</Properties>
</file>
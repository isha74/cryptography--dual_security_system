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4" r:id="rId3"/>
    <p:sldId id="263" r:id="rId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725"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12/3/2025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12/3/2025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12/3/2025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974975" y="-32816"/>
            <a:ext cx="6392291" cy="849553"/>
          </a:xfrm>
          <a:prstGeom prst="rect">
            <a:avLst/>
          </a:prstGeom>
        </p:spPr>
        <p:txBody>
          <a:bodyPr wrap="square" lIns="0" tIns="0" rIns="0" bIns="0">
            <a:spAutoFit/>
          </a:bodyPr>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115315" y="1690877"/>
            <a:ext cx="11321415" cy="3866515"/>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12/3/2025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1549908"/>
          </a:xfrm>
          <a:prstGeom prst="rect">
            <a:avLst/>
          </a:prstGeom>
        </p:spPr>
      </p:pic>
      <p:sp>
        <p:nvSpPr>
          <p:cNvPr id="4" name="object 4"/>
          <p:cNvSpPr txBox="1">
            <a:spLocks noGrp="1"/>
          </p:cNvSpPr>
          <p:nvPr>
            <p:ph type="title"/>
          </p:nvPr>
        </p:nvSpPr>
        <p:spPr>
          <a:xfrm>
            <a:off x="1634329" y="1676400"/>
            <a:ext cx="9808210" cy="628377"/>
          </a:xfrm>
          <a:prstGeom prst="rect">
            <a:avLst/>
          </a:prstGeom>
        </p:spPr>
        <p:txBody>
          <a:bodyPr vert="horz" wrap="square" lIns="0" tIns="12700" rIns="0" bIns="0" rtlCol="0">
            <a:spAutoFit/>
          </a:bodyPr>
          <a:lstStyle/>
          <a:p>
            <a:pPr marR="744220" algn="ctr">
              <a:lnSpc>
                <a:spcPct val="100000"/>
              </a:lnSpc>
              <a:spcBef>
                <a:spcPts val="100"/>
              </a:spcBef>
            </a:pPr>
            <a:r>
              <a:rPr sz="4000" dirty="0">
                <a:solidFill>
                  <a:srgbClr val="C00000"/>
                </a:solidFill>
              </a:rPr>
              <a:t>Project</a:t>
            </a:r>
            <a:r>
              <a:rPr sz="4000" spc="-150" dirty="0">
                <a:solidFill>
                  <a:srgbClr val="C00000"/>
                </a:solidFill>
              </a:rPr>
              <a:t> </a:t>
            </a:r>
            <a:r>
              <a:rPr sz="4000" dirty="0">
                <a:solidFill>
                  <a:srgbClr val="C00000"/>
                </a:solidFill>
              </a:rPr>
              <a:t>Review</a:t>
            </a:r>
            <a:r>
              <a:rPr sz="4000" spc="-150" dirty="0">
                <a:solidFill>
                  <a:srgbClr val="C00000"/>
                </a:solidFill>
              </a:rPr>
              <a:t> </a:t>
            </a:r>
            <a:r>
              <a:rPr sz="4000" spc="-50" dirty="0">
                <a:solidFill>
                  <a:srgbClr val="C00000"/>
                </a:solidFill>
              </a:rPr>
              <a:t>I</a:t>
            </a:r>
            <a:endParaRPr sz="4000" dirty="0">
              <a:solidFill>
                <a:srgbClr val="C00000"/>
              </a:solidFill>
            </a:endParaRPr>
          </a:p>
        </p:txBody>
      </p:sp>
      <p:sp>
        <p:nvSpPr>
          <p:cNvPr id="15" name="object 15"/>
          <p:cNvSpPr txBox="1"/>
          <p:nvPr/>
        </p:nvSpPr>
        <p:spPr>
          <a:xfrm>
            <a:off x="762000" y="2743200"/>
            <a:ext cx="10668000" cy="3282245"/>
          </a:xfrm>
          <a:prstGeom prst="rect">
            <a:avLst/>
          </a:prstGeom>
        </p:spPr>
        <p:txBody>
          <a:bodyPr vert="horz" wrap="square" lIns="0" tIns="12065" rIns="0" bIns="0" rtlCol="0">
            <a:spAutoFit/>
          </a:bodyPr>
          <a:lstStyle/>
          <a:p>
            <a:pPr marL="12700" algn="just">
              <a:lnSpc>
                <a:spcPct val="150000"/>
              </a:lnSpc>
              <a:spcBef>
                <a:spcPts val="95"/>
              </a:spcBef>
              <a:tabLst>
                <a:tab pos="354965" algn="l"/>
              </a:tabLst>
            </a:pPr>
            <a:r>
              <a:rPr lang="en-IN" sz="2400" b="1" dirty="0">
                <a:solidFill>
                  <a:schemeClr val="accent1">
                    <a:lumMod val="75000"/>
                  </a:schemeClr>
                </a:solidFill>
                <a:latin typeface="Times New Roman"/>
                <a:cs typeface="Times New Roman"/>
              </a:rPr>
              <a:t>College Name: </a:t>
            </a:r>
            <a:r>
              <a:rPr lang="en-IN" sz="2400" dirty="0">
                <a:latin typeface="Times New Roman"/>
                <a:cs typeface="Times New Roman"/>
              </a:rPr>
              <a:t>S. B. Jain Institute of Technology, Management and Research, Nagpur</a:t>
            </a:r>
          </a:p>
          <a:p>
            <a:pPr marL="12700" algn="just">
              <a:lnSpc>
                <a:spcPct val="150000"/>
              </a:lnSpc>
              <a:spcBef>
                <a:spcPts val="95"/>
              </a:spcBef>
              <a:tabLst>
                <a:tab pos="354965" algn="l"/>
              </a:tabLst>
            </a:pPr>
            <a:r>
              <a:rPr lang="en-IN" sz="2400" b="1" dirty="0">
                <a:solidFill>
                  <a:schemeClr val="accent1">
                    <a:lumMod val="75000"/>
                  </a:schemeClr>
                </a:solidFill>
                <a:latin typeface="Times New Roman"/>
                <a:cs typeface="Times New Roman"/>
              </a:rPr>
              <a:t>Department Name: </a:t>
            </a:r>
            <a:r>
              <a:rPr lang="en-IN" sz="2400" dirty="0">
                <a:latin typeface="Times New Roman"/>
                <a:cs typeface="Times New Roman"/>
              </a:rPr>
              <a:t>Emerging Technologies</a:t>
            </a:r>
          </a:p>
          <a:p>
            <a:pPr algn="just">
              <a:lnSpc>
                <a:spcPct val="150000"/>
              </a:lnSpc>
            </a:pPr>
            <a:r>
              <a:rPr lang="en-IN" sz="2400" b="1" dirty="0">
                <a:solidFill>
                  <a:schemeClr val="accent1">
                    <a:lumMod val="75000"/>
                  </a:schemeClr>
                </a:solidFill>
                <a:latin typeface="Times New Roman"/>
                <a:cs typeface="Times New Roman"/>
              </a:rPr>
              <a:t>Project Title: </a:t>
            </a:r>
            <a:r>
              <a:rPr lang="en-IN" sz="2400" dirty="0">
                <a:latin typeface="Times New Roman"/>
                <a:cs typeface="Times New Roman"/>
              </a:rPr>
              <a:t>A Dual Encryption-Based Framework for Medical Images</a:t>
            </a:r>
          </a:p>
          <a:p>
            <a:pPr algn="just">
              <a:lnSpc>
                <a:spcPct val="150000"/>
              </a:lnSpc>
            </a:pPr>
            <a:r>
              <a:rPr lang="en-IN" sz="2400" b="1" dirty="0">
                <a:solidFill>
                  <a:schemeClr val="accent1">
                    <a:lumMod val="75000"/>
                  </a:schemeClr>
                </a:solidFill>
                <a:latin typeface="Times New Roman"/>
                <a:cs typeface="Times New Roman"/>
              </a:rPr>
              <a:t>Group Members: </a:t>
            </a:r>
            <a:r>
              <a:rPr lang="en-IN" sz="2400" b="1" dirty="0">
                <a:latin typeface="Times New Roman"/>
                <a:cs typeface="Times New Roman"/>
              </a:rPr>
              <a:t>Mr. Rohit Khadse (Team Leader), </a:t>
            </a:r>
            <a:r>
              <a:rPr lang="en-IN" sz="2400" dirty="0">
                <a:latin typeface="Times New Roman"/>
                <a:cs typeface="Times New Roman"/>
              </a:rPr>
              <a:t>Ms. Khushi </a:t>
            </a:r>
            <a:r>
              <a:rPr lang="en-IN" sz="2400" dirty="0" err="1">
                <a:latin typeface="Times New Roman"/>
                <a:cs typeface="Times New Roman"/>
              </a:rPr>
              <a:t>Ghatode</a:t>
            </a:r>
            <a:r>
              <a:rPr lang="en-IN" sz="2400" dirty="0">
                <a:latin typeface="Times New Roman"/>
                <a:cs typeface="Times New Roman"/>
              </a:rPr>
              <a:t>, </a:t>
            </a:r>
          </a:p>
          <a:p>
            <a:pPr algn="just">
              <a:lnSpc>
                <a:spcPct val="150000"/>
              </a:lnSpc>
            </a:pPr>
            <a:r>
              <a:rPr lang="en-IN" sz="2400" dirty="0">
                <a:latin typeface="Times New Roman"/>
                <a:cs typeface="Times New Roman"/>
              </a:rPr>
              <a:t>Ms. Isha Bairam, Ms. Shrushti </a:t>
            </a:r>
            <a:r>
              <a:rPr lang="en-IN" sz="2400" dirty="0" err="1">
                <a:latin typeface="Times New Roman"/>
                <a:cs typeface="Times New Roman"/>
              </a:rPr>
              <a:t>Adkane</a:t>
            </a:r>
            <a:endParaRPr lang="en-IN" sz="2400" dirty="0">
              <a:latin typeface="Times New Roman"/>
              <a:cs typeface="Times New Roman"/>
            </a:endParaRPr>
          </a:p>
          <a:p>
            <a:pPr algn="just">
              <a:lnSpc>
                <a:spcPct val="150000"/>
              </a:lnSpc>
            </a:pPr>
            <a:r>
              <a:rPr lang="en-IN" sz="2400" b="1" dirty="0">
                <a:solidFill>
                  <a:schemeClr val="accent1">
                    <a:lumMod val="75000"/>
                  </a:schemeClr>
                </a:solidFill>
                <a:latin typeface="Times New Roman"/>
                <a:cs typeface="Times New Roman"/>
              </a:rPr>
              <a:t>Guide Name: </a:t>
            </a:r>
            <a:r>
              <a:rPr lang="en-IN" sz="2400" dirty="0">
                <a:latin typeface="Times New Roman"/>
                <a:cs typeface="Times New Roman"/>
              </a:rPr>
              <a:t>Ms. Harshika </a:t>
            </a:r>
            <a:r>
              <a:rPr lang="en-IN" sz="2400" dirty="0" err="1">
                <a:latin typeface="Times New Roman"/>
                <a:cs typeface="Times New Roman"/>
              </a:rPr>
              <a:t>Dehariya</a:t>
            </a:r>
            <a:endParaRPr lang="en-IN"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flipH="1">
            <a:off x="11963399" y="2209800"/>
            <a:ext cx="609601" cy="93486"/>
          </a:xfrm>
          <a:prstGeom prst="rect">
            <a:avLst/>
          </a:prstGeom>
        </p:spPr>
        <p:txBody>
          <a:bodyPr vert="horz" wrap="square" lIns="0" tIns="77342" rIns="0" bIns="0" rtlCol="0">
            <a:spAutoFit/>
          </a:bodyPr>
          <a:lstStyle/>
          <a:p>
            <a:pPr marL="1335405" algn="l">
              <a:lnSpc>
                <a:spcPct val="100000"/>
              </a:lnSpc>
              <a:spcBef>
                <a:spcPts val="105"/>
              </a:spcBef>
            </a:pPr>
            <a:endParaRPr sz="100" spc="-10" dirty="0">
              <a:solidFill>
                <a:srgbClr val="C00000"/>
              </a:solidFill>
            </a:endParaRPr>
          </a:p>
        </p:txBody>
      </p:sp>
      <p:pic>
        <p:nvPicPr>
          <p:cNvPr id="4" name="object 2">
            <a:extLst>
              <a:ext uri="{FF2B5EF4-FFF2-40B4-BE49-F238E27FC236}">
                <a16:creationId xmlns:a16="http://schemas.microsoft.com/office/drawing/2014/main" id="{E6104B6D-B9AB-9EB1-70CC-3A636F01ED8F}"/>
              </a:ext>
            </a:extLst>
          </p:cNvPr>
          <p:cNvPicPr/>
          <p:nvPr/>
        </p:nvPicPr>
        <p:blipFill>
          <a:blip r:embed="rId2" cstate="print"/>
          <a:stretch>
            <a:fillRect/>
          </a:stretch>
        </p:blipFill>
        <p:spPr>
          <a:xfrm>
            <a:off x="0" y="0"/>
            <a:ext cx="12192000" cy="1549908"/>
          </a:xfrm>
          <a:prstGeom prst="rect">
            <a:avLst/>
          </a:prstGeom>
        </p:spPr>
      </p:pic>
      <p:pic>
        <p:nvPicPr>
          <p:cNvPr id="6" name="Picture 5">
            <a:extLst>
              <a:ext uri="{FF2B5EF4-FFF2-40B4-BE49-F238E27FC236}">
                <a16:creationId xmlns:a16="http://schemas.microsoft.com/office/drawing/2014/main" id="{A5B86BAB-83FD-8670-F40B-6BD85A65E1D2}"/>
              </a:ext>
            </a:extLst>
          </p:cNvPr>
          <p:cNvPicPr>
            <a:picLocks noChangeAspect="1"/>
          </p:cNvPicPr>
          <p:nvPr/>
        </p:nvPicPr>
        <p:blipFill>
          <a:blip r:embed="rId3">
            <a:extLst>
              <a:ext uri="{28A0092B-C50C-407E-A947-70E740481C1C}">
                <a14:useLocalDpi xmlns:a14="http://schemas.microsoft.com/office/drawing/2010/main" val="0"/>
              </a:ext>
            </a:extLst>
          </a:blip>
          <a:srcRect l="4634" t="6172" r="2667"/>
          <a:stretch>
            <a:fillRect/>
          </a:stretch>
        </p:blipFill>
        <p:spPr>
          <a:xfrm>
            <a:off x="6853848" y="1676400"/>
            <a:ext cx="5253737" cy="4492403"/>
          </a:xfrm>
          <a:prstGeom prst="rect">
            <a:avLst/>
          </a:prstGeom>
        </p:spPr>
      </p:pic>
      <p:pic>
        <p:nvPicPr>
          <p:cNvPr id="7" name="Picture 6">
            <a:extLst>
              <a:ext uri="{FF2B5EF4-FFF2-40B4-BE49-F238E27FC236}">
                <a16:creationId xmlns:a16="http://schemas.microsoft.com/office/drawing/2014/main" id="{53BE9E5D-F09E-22EA-69F7-A4978AAFE04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55107" y="1955929"/>
            <a:ext cx="5589297" cy="3490109"/>
          </a:xfrm>
          <a:prstGeom prst="rect">
            <a:avLst/>
          </a:prstGeom>
          <a:noFill/>
          <a:ln>
            <a:noFill/>
          </a:ln>
        </p:spPr>
      </p:pic>
      <p:sp>
        <p:nvSpPr>
          <p:cNvPr id="8" name="object 2">
            <a:extLst>
              <a:ext uri="{FF2B5EF4-FFF2-40B4-BE49-F238E27FC236}">
                <a16:creationId xmlns:a16="http://schemas.microsoft.com/office/drawing/2014/main" id="{E41A6FDD-2FB0-5B54-6117-2E9F98AEF6EC}"/>
              </a:ext>
            </a:extLst>
          </p:cNvPr>
          <p:cNvSpPr txBox="1">
            <a:spLocks/>
          </p:cNvSpPr>
          <p:nvPr/>
        </p:nvSpPr>
        <p:spPr>
          <a:xfrm>
            <a:off x="3088425" y="1515185"/>
            <a:ext cx="6392291" cy="693650"/>
          </a:xfrm>
          <a:prstGeom prst="rect">
            <a:avLst/>
          </a:prstGeom>
        </p:spPr>
        <p:txBody>
          <a:bodyPr vert="horz" wrap="square" lIns="0" tIns="77342" rIns="0" bIns="0" rtlCol="0">
            <a:spAutoFit/>
          </a:bodyPr>
          <a:lstStyle>
            <a:lvl1pPr>
              <a:defRPr sz="4400" b="1" i="0">
                <a:solidFill>
                  <a:schemeClr val="tx1"/>
                </a:solidFill>
                <a:latin typeface="Times New Roman"/>
                <a:ea typeface="+mj-ea"/>
                <a:cs typeface="Times New Roman"/>
              </a:defRPr>
            </a:lvl1pPr>
          </a:lstStyle>
          <a:p>
            <a:pPr marL="1335405" algn="l">
              <a:spcBef>
                <a:spcPts val="105"/>
              </a:spcBef>
            </a:pPr>
            <a:r>
              <a:rPr lang="en-IN" sz="4000" spc="-10" dirty="0">
                <a:solidFill>
                  <a:srgbClr val="C00000"/>
                </a:solidFill>
              </a:rPr>
              <a:t>Methodology</a:t>
            </a:r>
          </a:p>
        </p:txBody>
      </p:sp>
      <p:sp>
        <p:nvSpPr>
          <p:cNvPr id="9" name="TextBox 8">
            <a:extLst>
              <a:ext uri="{FF2B5EF4-FFF2-40B4-BE49-F238E27FC236}">
                <a16:creationId xmlns:a16="http://schemas.microsoft.com/office/drawing/2014/main" id="{18D73757-9049-FC06-15DF-B3BB814A80CF}"/>
              </a:ext>
            </a:extLst>
          </p:cNvPr>
          <p:cNvSpPr txBox="1"/>
          <p:nvPr/>
        </p:nvSpPr>
        <p:spPr>
          <a:xfrm>
            <a:off x="281651" y="5446038"/>
            <a:ext cx="7535291" cy="1200329"/>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This securely protects medical images by first encrypting them with AES and then encrypting the AES key using RSA for safe transmission. At the receiver end, the AES key is decrypted and used to fully recover the original medical image without loss of diagnostic quality.</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52800" y="1529112"/>
            <a:ext cx="6392291" cy="705962"/>
          </a:xfrm>
          <a:prstGeom prst="rect">
            <a:avLst/>
          </a:prstGeom>
        </p:spPr>
        <p:txBody>
          <a:bodyPr vert="horz" wrap="square" lIns="0" tIns="89535" rIns="0" bIns="0" rtlCol="0">
            <a:spAutoFit/>
          </a:bodyPr>
          <a:lstStyle/>
          <a:p>
            <a:pPr marL="1076325">
              <a:lnSpc>
                <a:spcPct val="100000"/>
              </a:lnSpc>
              <a:spcBef>
                <a:spcPts val="105"/>
              </a:spcBef>
            </a:pPr>
            <a:r>
              <a:rPr lang="en-IN" sz="4000" spc="-20" dirty="0">
                <a:solidFill>
                  <a:srgbClr val="C00000"/>
                </a:solidFill>
              </a:rPr>
              <a:t>Future Scope</a:t>
            </a:r>
            <a:endParaRPr sz="4000" spc="-20" dirty="0">
              <a:solidFill>
                <a:srgbClr val="C00000"/>
              </a:solidFill>
            </a:endParaRPr>
          </a:p>
        </p:txBody>
      </p:sp>
      <p:sp>
        <p:nvSpPr>
          <p:cNvPr id="3" name="object 3"/>
          <p:cNvSpPr txBox="1"/>
          <p:nvPr/>
        </p:nvSpPr>
        <p:spPr>
          <a:xfrm>
            <a:off x="419100" y="2259188"/>
            <a:ext cx="11353800" cy="4113306"/>
          </a:xfrm>
          <a:prstGeom prst="rect">
            <a:avLst/>
          </a:prstGeom>
        </p:spPr>
        <p:txBody>
          <a:bodyPr vert="horz" wrap="square" lIns="0" tIns="12065" rIns="0" bIns="0" numCol="1" rtlCol="0">
            <a:spAutoFit/>
          </a:bodyPr>
          <a:lstStyle/>
          <a:p>
            <a:pPr marL="12065" marR="5080" algn="just">
              <a:lnSpc>
                <a:spcPct val="100000"/>
              </a:lnSpc>
              <a:spcBef>
                <a:spcPts val="95"/>
              </a:spcBef>
              <a:tabLst>
                <a:tab pos="299085" algn="l"/>
              </a:tabLst>
            </a:pPr>
            <a:r>
              <a:rPr lang="en-IN" sz="2400" b="1" dirty="0">
                <a:solidFill>
                  <a:schemeClr val="accent1">
                    <a:lumMod val="75000"/>
                  </a:schemeClr>
                </a:solidFill>
                <a:latin typeface="Times New Roman" panose="02020603050405020304" pitchFamily="18" charset="0"/>
                <a:cs typeface="Times New Roman" panose="02020603050405020304" pitchFamily="18" charset="0"/>
              </a:rPr>
              <a:t>Background Work</a:t>
            </a:r>
          </a:p>
          <a:p>
            <a:pPr marL="12065" marR="5080" algn="just">
              <a:lnSpc>
                <a:spcPct val="100000"/>
              </a:lnSpc>
              <a:spcBef>
                <a:spcPts val="95"/>
              </a:spcBef>
              <a:tabLst>
                <a:tab pos="299085" algn="l"/>
              </a:tabLst>
            </a:pPr>
            <a:r>
              <a:rPr lang="en-US" sz="2400" dirty="0">
                <a:latin typeface="Times New Roman" panose="02020603050405020304" pitchFamily="18" charset="0"/>
                <a:cs typeface="Times New Roman" panose="02020603050405020304" pitchFamily="18" charset="0"/>
              </a:rPr>
              <a:t>Previous studies mainly used single-layer AES or RSA, which were either fast but weak in key management or secure but slow for large medical images. Hybrid models were attempted, but many lacked pixel-level permutation or proper validation using medical-grade datasets.</a:t>
            </a:r>
          </a:p>
          <a:p>
            <a:pPr marL="12065" marR="5080" algn="just">
              <a:lnSpc>
                <a:spcPct val="100000"/>
              </a:lnSpc>
              <a:spcBef>
                <a:spcPts val="95"/>
              </a:spcBef>
              <a:tabLst>
                <a:tab pos="299085" algn="l"/>
              </a:tabLst>
            </a:pPr>
            <a:endParaRPr lang="en-US" sz="2400" dirty="0">
              <a:latin typeface="Times New Roman" panose="02020603050405020304" pitchFamily="18" charset="0"/>
              <a:cs typeface="Times New Roman" panose="02020603050405020304" pitchFamily="18" charset="0"/>
            </a:endParaRPr>
          </a:p>
          <a:p>
            <a:pPr marL="12065" marR="5080" algn="just">
              <a:lnSpc>
                <a:spcPct val="100000"/>
              </a:lnSpc>
              <a:spcBef>
                <a:spcPts val="95"/>
              </a:spcBef>
              <a:tabLst>
                <a:tab pos="299085" algn="l"/>
              </a:tabLst>
            </a:pPr>
            <a:r>
              <a:rPr lang="en-IN" sz="2400" b="1" dirty="0">
                <a:solidFill>
                  <a:schemeClr val="accent1">
                    <a:lumMod val="75000"/>
                  </a:schemeClr>
                </a:solidFill>
                <a:latin typeface="Times New Roman" panose="02020603050405020304" pitchFamily="18" charset="0"/>
                <a:cs typeface="Times New Roman" panose="02020603050405020304" pitchFamily="18" charset="0"/>
              </a:rPr>
              <a:t>Future Work</a:t>
            </a:r>
            <a:r>
              <a:rPr sz="2400" b="1" dirty="0">
                <a:solidFill>
                  <a:schemeClr val="accent1">
                    <a:lumMod val="75000"/>
                  </a:schemeClr>
                </a:solidFill>
                <a:latin typeface="Times New Roman" panose="02020603050405020304" pitchFamily="18" charset="0"/>
                <a:cs typeface="Times New Roman" panose="02020603050405020304" pitchFamily="18" charset="0"/>
              </a:rPr>
              <a:t>:</a:t>
            </a:r>
            <a:r>
              <a:rPr sz="2400" b="1" spc="-20" dirty="0">
                <a:solidFill>
                  <a:schemeClr val="accent1">
                    <a:lumMod val="75000"/>
                  </a:schemeClr>
                </a:solidFill>
                <a:latin typeface="Times New Roman" panose="02020603050405020304" pitchFamily="18" charset="0"/>
                <a:cs typeface="Times New Roman" panose="02020603050405020304" pitchFamily="18" charset="0"/>
              </a:rPr>
              <a:t> </a:t>
            </a:r>
            <a:endParaRPr lang="en-IN" sz="2400" b="1" spc="-20" dirty="0">
              <a:solidFill>
                <a:schemeClr val="accent1">
                  <a:lumMod val="75000"/>
                </a:schemeClr>
              </a:solidFill>
              <a:latin typeface="Times New Roman" panose="02020603050405020304" pitchFamily="18" charset="0"/>
              <a:cs typeface="Times New Roman" panose="02020603050405020304" pitchFamily="18" charset="0"/>
            </a:endParaRPr>
          </a:p>
          <a:p>
            <a:pPr marL="12065" marR="76200" algn="just">
              <a:lnSpc>
                <a:spcPct val="100000"/>
              </a:lnSpc>
              <a:tabLst>
                <a:tab pos="299085" algn="l"/>
              </a:tabLst>
            </a:pPr>
            <a:r>
              <a:rPr lang="en-US" sz="2400" dirty="0">
                <a:latin typeface="Times New Roman" panose="02020603050405020304" pitchFamily="18" charset="0"/>
                <a:cs typeface="Times New Roman" panose="02020603050405020304" pitchFamily="18" charset="0"/>
              </a:rPr>
              <a:t>The system can be extended by adding lightweight chaotic encryption, QR-code–based secure key packaging, and OTP-verified access for real-time telemedicine environments. Future versions may also integrate blockchain-based audit trails and cloud deployment for secure, large-scale medical image sharing.</a:t>
            </a:r>
            <a:endParaRPr sz="2400" dirty="0">
              <a:latin typeface="Times New Roman" panose="02020603050405020304" pitchFamily="18" charset="0"/>
              <a:cs typeface="Times New Roman" panose="02020603050405020304" pitchFamily="18" charset="0"/>
            </a:endParaRPr>
          </a:p>
        </p:txBody>
      </p:sp>
      <p:pic>
        <p:nvPicPr>
          <p:cNvPr id="4" name="object 2">
            <a:extLst>
              <a:ext uri="{FF2B5EF4-FFF2-40B4-BE49-F238E27FC236}">
                <a16:creationId xmlns:a16="http://schemas.microsoft.com/office/drawing/2014/main" id="{C5E74E66-AF97-E705-D711-24C43E34B0A7}"/>
              </a:ext>
            </a:extLst>
          </p:cNvPr>
          <p:cNvPicPr/>
          <p:nvPr/>
        </p:nvPicPr>
        <p:blipFill>
          <a:blip r:embed="rId2" cstate="print"/>
          <a:stretch>
            <a:fillRect/>
          </a:stretch>
        </p:blipFill>
        <p:spPr>
          <a:xfrm>
            <a:off x="0" y="16830"/>
            <a:ext cx="12192000" cy="154990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46</TotalTime>
  <Words>212</Words>
  <Application>Microsoft Office PowerPoint</Application>
  <PresentationFormat>Widescreen</PresentationFormat>
  <Paragraphs>15</Paragraphs>
  <Slides>3</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vt:i4>
      </vt:variant>
    </vt:vector>
  </HeadingPairs>
  <TitlesOfParts>
    <vt:vector size="5" baseType="lpstr">
      <vt:lpstr>Times New Roman</vt:lpstr>
      <vt:lpstr>Office Theme</vt:lpstr>
      <vt:lpstr>Project Review I</vt:lpstr>
      <vt:lpstr>PowerPoint Presentation</vt:lpstr>
      <vt:lpstr>Future Scope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Seminar-1_format.pptx</dc:title>
  <dc:creator>HP</dc:creator>
  <cp:lastModifiedBy>Praharsh Bairam</cp:lastModifiedBy>
  <cp:revision>2</cp:revision>
  <dcterms:created xsi:type="dcterms:W3CDTF">2025-12-03T15:52:24Z</dcterms:created>
  <dcterms:modified xsi:type="dcterms:W3CDTF">2025-12-03T17:19:23Z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2025-08-24T00:00:00Z</vt:filetime>
  </property>
  <property fmtid="{D5CDD505-2E9C-101B-9397-08002B2CF9AE}" pid="3" name="Creator">
    <vt:lpwstr>Microsoft® PowerPoint® 2013</vt:lpwstr>
  </property>
  <property fmtid="{D5CDD505-2E9C-101B-9397-08002B2CF9AE}" pid="4" name="LastSaved">
    <vt:filetime>2025-12-03T00:00:00Z</vt:filetime>
  </property>
  <property fmtid="{D5CDD505-2E9C-101B-9397-08002B2CF9AE}" pid="5" name="Producer">
    <vt:lpwstr>Microsoft® PowerPoint® 2013</vt:lpwstr>
  </property>
</Properties>
</file>